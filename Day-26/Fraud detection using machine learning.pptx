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" charset="1" panose="02020603050405020304"/>
      <p:regular r:id="rId16"/>
    </p:embeddedFont>
    <p:embeddedFont>
      <p:font typeface="Times New Roman Bold" charset="1" panose="020208030705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https://savioglobal.com/wp-content/uploads/2023/02/logistic-regression.png.webp" TargetMode="External" Type="http://schemas.openxmlformats.org/officeDocument/2006/relationships/hyperlink"/><Relationship Id="rId5" Target="https://datahacker.rs/wp-content/uploads/2022/08/26-1024x761.jpg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miro.medium.com/0*zdmqFZ2nooBRedqC.p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32032F">
                <a:alpha val="100000"/>
              </a:srgbClr>
            </a:gs>
            <a:gs pos="100000">
              <a:srgbClr val="701B7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205" y="3942349"/>
            <a:ext cx="16390851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2"/>
              </a:lnSpc>
              <a:spcBef>
                <a:spcPct val="0"/>
              </a:spcBef>
            </a:pPr>
            <a:r>
              <a:rPr lang="en-US" sz="6393" spc="4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DETECTION USING MACHINE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06748" y="7498073"/>
            <a:ext cx="8207765" cy="94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2670" spc="1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GOPAL BHAMMAR</a:t>
            </a:r>
          </a:p>
          <a:p>
            <a:pPr algn="ctr">
              <a:lnSpc>
                <a:spcPts val="3738"/>
              </a:lnSpc>
            </a:pPr>
            <a:r>
              <a:rPr lang="en-US" sz="2670" spc="1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ESET0082</a:t>
            </a:r>
          </a:p>
        </p:txBody>
      </p:sp>
      <p:grpSp>
        <p:nvGrpSpPr>
          <p:cNvPr name="Group 4" id="4"/>
          <p:cNvGrpSpPr/>
          <p:nvPr/>
        </p:nvGrpSpPr>
        <p:grpSpPr>
          <a:xfrm rot="8635896">
            <a:off x="2372223" y="1114108"/>
            <a:ext cx="3623585" cy="263623"/>
            <a:chOff x="0" y="0"/>
            <a:chExt cx="952142" cy="69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952142" cy="135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464847">
            <a:off x="355729" y="8892451"/>
            <a:ext cx="3623585" cy="263623"/>
            <a:chOff x="0" y="0"/>
            <a:chExt cx="952142" cy="69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52142" cy="135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8635896">
            <a:off x="4084427" y="679668"/>
            <a:ext cx="3623585" cy="263623"/>
            <a:chOff x="0" y="0"/>
            <a:chExt cx="952142" cy="69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952142" cy="135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464847">
            <a:off x="-1311970" y="9474826"/>
            <a:ext cx="3623585" cy="263623"/>
            <a:chOff x="0" y="0"/>
            <a:chExt cx="952142" cy="69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2142" cy="135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6060" y="-74516"/>
            <a:ext cx="8373240" cy="10361516"/>
            <a:chOff x="0" y="0"/>
            <a:chExt cx="2205298" cy="27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5298" cy="2728959"/>
            </a:xfrm>
            <a:custGeom>
              <a:avLst/>
              <a:gdLst/>
              <a:ahLst/>
              <a:cxnLst/>
              <a:rect r="r" b="b" t="t" l="l"/>
              <a:pathLst>
                <a:path h="2728959" w="2205298">
                  <a:moveTo>
                    <a:pt x="52702" y="0"/>
                  </a:moveTo>
                  <a:lnTo>
                    <a:pt x="2152595" y="0"/>
                  </a:lnTo>
                  <a:cubicBezTo>
                    <a:pt x="2181702" y="0"/>
                    <a:pt x="2205298" y="23596"/>
                    <a:pt x="2205298" y="52702"/>
                  </a:cubicBezTo>
                  <a:lnTo>
                    <a:pt x="2205298" y="2676257"/>
                  </a:lnTo>
                  <a:cubicBezTo>
                    <a:pt x="2205298" y="2690234"/>
                    <a:pt x="2199745" y="2703639"/>
                    <a:pt x="2189862" y="2713523"/>
                  </a:cubicBezTo>
                  <a:cubicBezTo>
                    <a:pt x="2179978" y="2723406"/>
                    <a:pt x="2166573" y="2728959"/>
                    <a:pt x="2152595" y="2728959"/>
                  </a:cubicBezTo>
                  <a:lnTo>
                    <a:pt x="52702" y="2728959"/>
                  </a:lnTo>
                  <a:cubicBezTo>
                    <a:pt x="38725" y="2728959"/>
                    <a:pt x="25320" y="2723406"/>
                    <a:pt x="15436" y="2713523"/>
                  </a:cubicBezTo>
                  <a:cubicBezTo>
                    <a:pt x="5553" y="2703639"/>
                    <a:pt x="0" y="2690234"/>
                    <a:pt x="0" y="2676257"/>
                  </a:cubicBezTo>
                  <a:lnTo>
                    <a:pt x="0" y="52702"/>
                  </a:lnTo>
                  <a:cubicBezTo>
                    <a:pt x="0" y="38725"/>
                    <a:pt x="5553" y="25320"/>
                    <a:pt x="15436" y="15436"/>
                  </a:cubicBezTo>
                  <a:cubicBezTo>
                    <a:pt x="25320" y="5553"/>
                    <a:pt x="38725" y="0"/>
                    <a:pt x="527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05298" cy="2795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6321" y="1475679"/>
            <a:ext cx="7736744" cy="172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29"/>
              </a:lnSpc>
            </a:pPr>
            <a:r>
              <a:rPr lang="en-US" b="true" sz="4499" spc="3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Context &amp;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7460" y="3616253"/>
            <a:ext cx="4528097" cy="34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2881" y="4237457"/>
            <a:ext cx="5927007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buFont typeface="Arial"/>
              <a:buChar char="•"/>
            </a:pPr>
            <a:r>
              <a:rPr lang="en-US" sz="2199" spc="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patterns and anomalies linked to fraudulent activity.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71582" y="5294436"/>
            <a:ext cx="5869557" cy="5449001"/>
            <a:chOff x="0" y="0"/>
            <a:chExt cx="909348" cy="8441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348" cy="844193"/>
            </a:xfrm>
            <a:custGeom>
              <a:avLst/>
              <a:gdLst/>
              <a:ahLst/>
              <a:cxnLst/>
              <a:rect r="r" b="b" t="t" l="l"/>
              <a:pathLst>
                <a:path h="844193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766372"/>
                  </a:lnTo>
                  <a:cubicBezTo>
                    <a:pt x="909348" y="809351"/>
                    <a:pt x="874507" y="844193"/>
                    <a:pt x="831527" y="844193"/>
                  </a:cubicBezTo>
                  <a:lnTo>
                    <a:pt x="77821" y="844193"/>
                  </a:lnTo>
                  <a:cubicBezTo>
                    <a:pt x="57181" y="844193"/>
                    <a:pt x="37387" y="835994"/>
                    <a:pt x="22793" y="821400"/>
                  </a:cubicBezTo>
                  <a:cubicBezTo>
                    <a:pt x="8199" y="806805"/>
                    <a:pt x="0" y="787011"/>
                    <a:pt x="0" y="766372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19626" t="0" r="-1962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73507" y="1329740"/>
            <a:ext cx="5927007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860"/>
              </a:lnSpc>
              <a:buFont typeface="Arial"/>
              <a:buChar char="•"/>
            </a:pPr>
            <a:r>
              <a:rPr lang="en-US" sz="2200" spc="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represents real-world bank transactions between accounts.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09176" y="2344359"/>
            <a:ext cx="5927007" cy="7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860"/>
              </a:lnSpc>
              <a:buFont typeface="Arial"/>
              <a:buChar char="•"/>
            </a:pPr>
            <a:r>
              <a:rPr lang="en-US" sz="2200" spc="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Fraudulent transactions are rare but cause significant financial losses.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72962" y="5457292"/>
            <a:ext cx="5927007" cy="145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Power BI dashboard to visualize fraud trends, transaction types, and account behaviors.</a:t>
            </a:r>
          </a:p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672962" y="7266280"/>
            <a:ext cx="5927007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5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pc="1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business teams in proactive fraud monitoring.</a:t>
            </a:r>
          </a:p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2531" y="7983214"/>
            <a:ext cx="802717" cy="869083"/>
          </a:xfrm>
          <a:custGeom>
            <a:avLst/>
            <a:gdLst/>
            <a:ahLst/>
            <a:cxnLst/>
            <a:rect r="r" b="b" t="t" l="l"/>
            <a:pathLst>
              <a:path h="869083" w="802717">
                <a:moveTo>
                  <a:pt x="0" y="0"/>
                </a:moveTo>
                <a:lnTo>
                  <a:pt x="802717" y="0"/>
                </a:lnTo>
                <a:lnTo>
                  <a:pt x="802717" y="869083"/>
                </a:lnTo>
                <a:lnTo>
                  <a:pt x="0" y="869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05096"/>
            <a:ext cx="9864642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0"/>
              </a:lnSpc>
              <a:spcBef>
                <a:spcPct val="0"/>
              </a:spcBef>
            </a:pPr>
            <a:r>
              <a:rPr lang="en-US" b="true" sz="4500" spc="3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</a:t>
            </a:r>
            <a:r>
              <a:rPr lang="en-US" b="true" sz="4500" spc="3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roach / Model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85013"/>
            <a:ext cx="9491062" cy="9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includes transaction details — type, amount, sender/receiver balances, fraud  and other features.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69044"/>
            <a:ext cx="9491062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and preprocessed data: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95875"/>
            <a:ext cx="9491062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 into Training (80%) and Validation (20%) sets.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71123"/>
            <a:ext cx="9491062" cy="410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</a:p>
          <a:p>
            <a:pPr algn="l" marL="604516" indent="-302258" lvl="1">
              <a:lnSpc>
                <a:spcPts val="3639"/>
              </a:lnSpc>
              <a:buFont typeface="Arial"/>
              <a:buChar char="•"/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models were implemented for comparative analysis:</a:t>
            </a:r>
          </a:p>
          <a:p>
            <a:pPr algn="l" marL="1209032" indent="-403011" lvl="2">
              <a:lnSpc>
                <a:spcPts val="3639"/>
              </a:lnSpc>
              <a:buAutoNum type="alphaLcPeriod" startAt="1"/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Logistic Regression :-  served as a simple and interpretable baseline.</a:t>
            </a:r>
          </a:p>
          <a:p>
            <a:pPr algn="l" marL="1252215" indent="-417405" lvl="2">
              <a:lnSpc>
                <a:spcPts val="3769"/>
              </a:lnSpc>
              <a:buAutoNum type="alphaLcPeriod" startAt="1"/>
            </a:pPr>
            <a:r>
              <a:rPr lang="en-US" sz="2899" spc="-14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Classifier :- tested for gradient-boosted performance on imbalanced data.</a:t>
            </a:r>
          </a:p>
          <a:p>
            <a:pPr algn="l" marL="1209036" indent="-403012" lvl="2">
              <a:lnSpc>
                <a:spcPts val="3639"/>
              </a:lnSpc>
              <a:buAutoNum type="alphaLcPeriod" startAt="1"/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Classifier :- evaluated for ensemble-based accuracy and generalization.</a:t>
            </a:r>
          </a:p>
          <a:p>
            <a:pPr algn="l">
              <a:lnSpc>
                <a:spcPts val="311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353857" y="1124504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4"/>
              <a:stretch>
                <a:fillRect l="-108115" t="0" r="-22645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16185"/>
            <a:ext cx="8115300" cy="4999593"/>
          </a:xfrm>
          <a:custGeom>
            <a:avLst/>
            <a:gdLst/>
            <a:ahLst/>
            <a:cxnLst/>
            <a:rect r="r" b="b" t="t" l="l"/>
            <a:pathLst>
              <a:path h="4999593" w="8115300">
                <a:moveTo>
                  <a:pt x="0" y="0"/>
                </a:moveTo>
                <a:lnTo>
                  <a:pt x="8115300" y="0"/>
                </a:lnTo>
                <a:lnTo>
                  <a:pt x="8115300" y="4999593"/>
                </a:lnTo>
                <a:lnTo>
                  <a:pt x="0" y="4999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9" t="0" r="-3529" b="-426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6797" y="2616185"/>
            <a:ext cx="7537443" cy="5054631"/>
          </a:xfrm>
          <a:custGeom>
            <a:avLst/>
            <a:gdLst/>
            <a:ahLst/>
            <a:cxnLst/>
            <a:rect r="r" b="b" t="t" l="l"/>
            <a:pathLst>
              <a:path h="5054631" w="7537443">
                <a:moveTo>
                  <a:pt x="0" y="0"/>
                </a:moveTo>
                <a:lnTo>
                  <a:pt x="7537443" y="0"/>
                </a:lnTo>
                <a:lnTo>
                  <a:pt x="7537443" y="5054630"/>
                </a:lnTo>
                <a:lnTo>
                  <a:pt x="0" y="5054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530" r="-216" b="-55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78815"/>
            <a:ext cx="182880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  <a:spcBef>
                <a:spcPct val="0"/>
              </a:spcBef>
            </a:pPr>
            <a:r>
              <a:rPr lang="en-US" b="true" sz="4500" spc="-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5748" y="8257024"/>
            <a:ext cx="7741204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spc="-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: - </a:t>
            </a:r>
            <a:r>
              <a:rPr lang="en-US" sz="2799" spc="-13" u="sng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savioglobal.com/wp-content/uploads/2023/02/logistic-regression.png.webp"/>
              </a:rPr>
              <a:t>Logistic Regression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6797" y="8467844"/>
            <a:ext cx="7537443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spc="-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: - </a:t>
            </a:r>
            <a:r>
              <a:rPr lang="en-US" sz="2799" spc="-13" u="sng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datahacker.rs/wp-content/uploads/2022/08/26-1024x761.jpg"/>
              </a:rPr>
              <a:t>Random Forest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8242" y="1543551"/>
            <a:ext cx="13251517" cy="6663785"/>
          </a:xfrm>
          <a:custGeom>
            <a:avLst/>
            <a:gdLst/>
            <a:ahLst/>
            <a:cxnLst/>
            <a:rect r="r" b="b" t="t" l="l"/>
            <a:pathLst>
              <a:path h="6663785" w="13251517">
                <a:moveTo>
                  <a:pt x="0" y="0"/>
                </a:moveTo>
                <a:lnTo>
                  <a:pt x="13251516" y="0"/>
                </a:lnTo>
                <a:lnTo>
                  <a:pt x="13251516" y="6663785"/>
                </a:lnTo>
                <a:lnTo>
                  <a:pt x="0" y="6663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79" r="0" b="-57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24351"/>
            <a:ext cx="182880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  <a:spcBef>
                <a:spcPct val="0"/>
              </a:spcBef>
            </a:pPr>
            <a:r>
              <a:rPr lang="en-US" b="true" sz="4500" spc="-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00828" y="8629542"/>
            <a:ext cx="7741204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spc="-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: - </a:t>
            </a:r>
            <a:r>
              <a:rPr lang="en-US" sz="2799" spc="-13" u="sng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miro.medium.com/0*zdmqFZ2nooBRedqC.png"/>
              </a:rPr>
              <a:t>XGoost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0481" y="3165965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730" y="1846810"/>
            <a:ext cx="14798744" cy="7981911"/>
          </a:xfrm>
          <a:custGeom>
            <a:avLst/>
            <a:gdLst/>
            <a:ahLst/>
            <a:cxnLst/>
            <a:rect r="r" b="b" t="t" l="l"/>
            <a:pathLst>
              <a:path h="7981911" w="14798744">
                <a:moveTo>
                  <a:pt x="0" y="0"/>
                </a:moveTo>
                <a:lnTo>
                  <a:pt x="14798744" y="0"/>
                </a:lnTo>
                <a:lnTo>
                  <a:pt x="14798744" y="7981911"/>
                </a:lnTo>
                <a:lnTo>
                  <a:pt x="0" y="7981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843" t="-24627" r="-19152" b="-130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11679" y="819885"/>
            <a:ext cx="9864642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0"/>
              </a:lnSpc>
              <a:spcBef>
                <a:spcPct val="0"/>
              </a:spcBef>
            </a:pPr>
            <a:r>
              <a:rPr lang="en-US" b="true" sz="4500" spc="3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Insig</a:t>
            </a:r>
            <a:r>
              <a:rPr lang="en-US" b="true" sz="4500" spc="337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hts / Results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772645" y="2856436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697007" y="9601279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424322" y="2519948"/>
          <a:ext cx="12920200" cy="4991100"/>
        </p:xfrm>
        <a:graphic>
          <a:graphicData uri="http://schemas.openxmlformats.org/drawingml/2006/table">
            <a:tbl>
              <a:tblPr/>
              <a:tblGrid>
                <a:gridCol w="3768585"/>
                <a:gridCol w="1658741"/>
                <a:gridCol w="1631769"/>
                <a:gridCol w="1866325"/>
                <a:gridCol w="1839354"/>
                <a:gridCol w="2155426"/>
              </a:tblGrid>
              <a:tr h="14877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86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0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77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 Classifier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9772645" y="1019175"/>
            <a:ext cx="900317" cy="5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97007" y="7948383"/>
            <a:ext cx="900317" cy="5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97324" y="7967433"/>
            <a:ext cx="4528097" cy="34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68091" y="860973"/>
            <a:ext cx="430280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Insights /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38891" y="8087535"/>
            <a:ext cx="9491062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spc="-13">
                <a:solidFill>
                  <a:srgbClr val="3434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1.1 :- Model Evaluation Results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7824" y="4347123"/>
            <a:ext cx="1087346" cy="838245"/>
          </a:xfrm>
          <a:custGeom>
            <a:avLst/>
            <a:gdLst/>
            <a:ahLst/>
            <a:cxnLst/>
            <a:rect r="r" b="b" t="t" l="l"/>
            <a:pathLst>
              <a:path h="838245" w="1087346">
                <a:moveTo>
                  <a:pt x="0" y="0"/>
                </a:moveTo>
                <a:lnTo>
                  <a:pt x="1087346" y="0"/>
                </a:lnTo>
                <a:lnTo>
                  <a:pt x="1087346" y="838245"/>
                </a:lnTo>
                <a:lnTo>
                  <a:pt x="0" y="838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6309" y="6125278"/>
            <a:ext cx="1170375" cy="936300"/>
          </a:xfrm>
          <a:custGeom>
            <a:avLst/>
            <a:gdLst/>
            <a:ahLst/>
            <a:cxnLst/>
            <a:rect r="r" b="b" t="t" l="l"/>
            <a:pathLst>
              <a:path h="936300" w="1170375">
                <a:moveTo>
                  <a:pt x="0" y="0"/>
                </a:moveTo>
                <a:lnTo>
                  <a:pt x="1170376" y="0"/>
                </a:lnTo>
                <a:lnTo>
                  <a:pt x="1170376" y="936300"/>
                </a:lnTo>
                <a:lnTo>
                  <a:pt x="0" y="93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5998" y="1886659"/>
            <a:ext cx="5739442" cy="6064163"/>
          </a:xfrm>
          <a:custGeom>
            <a:avLst/>
            <a:gdLst/>
            <a:ahLst/>
            <a:cxnLst/>
            <a:rect r="r" b="b" t="t" l="l"/>
            <a:pathLst>
              <a:path h="6064163" w="5739442">
                <a:moveTo>
                  <a:pt x="0" y="0"/>
                </a:moveTo>
                <a:lnTo>
                  <a:pt x="5739442" y="0"/>
                </a:lnTo>
                <a:lnTo>
                  <a:pt x="5739442" y="6064163"/>
                </a:lnTo>
                <a:lnTo>
                  <a:pt x="0" y="606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180" t="0" r="-2918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02590" y="1715209"/>
            <a:ext cx="12168387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0"/>
              </a:lnSpc>
              <a:spcBef>
                <a:spcPct val="0"/>
              </a:spcBef>
            </a:pPr>
            <a:r>
              <a:rPr lang="en-US" b="true" sz="4500" spc="3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4172" y="3447064"/>
            <a:ext cx="10909195" cy="362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real-time fraud monitoring through a visual dashboard.</a:t>
            </a:r>
          </a:p>
          <a:p>
            <a:pPr algn="l">
              <a:lnSpc>
                <a:spcPts val="3163"/>
              </a:lnSpc>
            </a:pPr>
          </a:p>
          <a:p>
            <a:pPr algn="l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prioritize high-risk transaction types and account behaviors.</a:t>
            </a:r>
          </a:p>
          <a:p>
            <a:pPr algn="l">
              <a:lnSpc>
                <a:spcPts val="3163"/>
              </a:lnSpc>
            </a:pPr>
          </a:p>
          <a:p>
            <a:pPr algn="l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financial loss by early detection of suspicious patterns.</a:t>
            </a:r>
          </a:p>
          <a:p>
            <a:pPr algn="l">
              <a:lnSpc>
                <a:spcPts val="3163"/>
              </a:lnSpc>
            </a:pPr>
          </a:p>
          <a:p>
            <a:pPr algn="l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data-backed evidence for investigation teams.</a:t>
            </a:r>
          </a:p>
          <a:p>
            <a:pPr algn="l">
              <a:lnSpc>
                <a:spcPts val="3163"/>
              </a:lnSpc>
            </a:pPr>
          </a:p>
          <a:p>
            <a:pPr algn="l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integrate with machine learning models to automate fraud flagging.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7824" y="4347123"/>
            <a:ext cx="1087346" cy="838245"/>
          </a:xfrm>
          <a:custGeom>
            <a:avLst/>
            <a:gdLst/>
            <a:ahLst/>
            <a:cxnLst/>
            <a:rect r="r" b="b" t="t" l="l"/>
            <a:pathLst>
              <a:path h="838245" w="1087346">
                <a:moveTo>
                  <a:pt x="0" y="0"/>
                </a:moveTo>
                <a:lnTo>
                  <a:pt x="1087346" y="0"/>
                </a:lnTo>
                <a:lnTo>
                  <a:pt x="1087346" y="838245"/>
                </a:lnTo>
                <a:lnTo>
                  <a:pt x="0" y="838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6309" y="6125278"/>
            <a:ext cx="1170375" cy="936300"/>
          </a:xfrm>
          <a:custGeom>
            <a:avLst/>
            <a:gdLst/>
            <a:ahLst/>
            <a:cxnLst/>
            <a:rect r="r" b="b" t="t" l="l"/>
            <a:pathLst>
              <a:path h="936300" w="1170375">
                <a:moveTo>
                  <a:pt x="0" y="0"/>
                </a:moveTo>
                <a:lnTo>
                  <a:pt x="1170376" y="0"/>
                </a:lnTo>
                <a:lnTo>
                  <a:pt x="1170376" y="936300"/>
                </a:lnTo>
                <a:lnTo>
                  <a:pt x="0" y="936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5998" y="1886659"/>
            <a:ext cx="5739442" cy="7185997"/>
          </a:xfrm>
          <a:custGeom>
            <a:avLst/>
            <a:gdLst/>
            <a:ahLst/>
            <a:cxnLst/>
            <a:rect r="r" b="b" t="t" l="l"/>
            <a:pathLst>
              <a:path h="7185997" w="5739442">
                <a:moveTo>
                  <a:pt x="0" y="0"/>
                </a:moveTo>
                <a:lnTo>
                  <a:pt x="5739442" y="0"/>
                </a:lnTo>
                <a:lnTo>
                  <a:pt x="5739442" y="7185997"/>
                </a:lnTo>
                <a:lnTo>
                  <a:pt x="0" y="71859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827" t="0" r="-4382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715209"/>
            <a:ext cx="11965797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0"/>
              </a:lnSpc>
              <a:spcBef>
                <a:spcPct val="0"/>
              </a:spcBef>
            </a:pPr>
            <a:r>
              <a:rPr lang="en-US" b="true" sz="4500" spc="33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Recommendations / Next 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4172" y="3447064"/>
            <a:ext cx="10909195" cy="522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Short-Term Actions : </a:t>
            </a:r>
          </a:p>
          <a:p>
            <a:pPr algn="l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Power BI dashboard for live transaction monitoring.</a:t>
            </a:r>
          </a:p>
          <a:p>
            <a:pPr algn="just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 data refresh from transaction systems.</a:t>
            </a:r>
          </a:p>
          <a:p>
            <a:pPr algn="just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up alerts for high fraud-rate thresholds.</a:t>
            </a:r>
          </a:p>
          <a:p>
            <a:pPr algn="just">
              <a:lnSpc>
                <a:spcPts val="3163"/>
              </a:lnSpc>
            </a:pPr>
          </a:p>
          <a:p>
            <a:pPr algn="just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Long-Term Improvements : </a:t>
            </a:r>
          </a:p>
          <a:p>
            <a:pPr algn="just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machine learning model outputs (probability of fraud) into dashboard.</a:t>
            </a:r>
          </a:p>
          <a:p>
            <a:pPr algn="just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real-time streaming data from payment gateways.</a:t>
            </a:r>
          </a:p>
          <a:p>
            <a:pPr algn="just" marL="604519" indent="-302260" lvl="1">
              <a:lnSpc>
                <a:spcPts val="31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dataset with geolocation, device ID, and user behavior features.</a:t>
            </a:r>
          </a:p>
          <a:p>
            <a:pPr algn="just">
              <a:lnSpc>
                <a:spcPts val="3163"/>
              </a:lnSpc>
            </a:pPr>
          </a:p>
          <a:p>
            <a:pPr algn="l">
              <a:lnSpc>
                <a:spcPts val="3163"/>
              </a:lnSpc>
            </a:pPr>
          </a:p>
          <a:p>
            <a:pPr algn="l">
              <a:lnSpc>
                <a:spcPts val="316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9148" y="965482"/>
            <a:ext cx="2987836" cy="2884620"/>
          </a:xfrm>
          <a:custGeom>
            <a:avLst/>
            <a:gdLst/>
            <a:ahLst/>
            <a:cxnLst/>
            <a:rect r="r" b="b" t="t" l="l"/>
            <a:pathLst>
              <a:path h="2884620" w="2987836">
                <a:moveTo>
                  <a:pt x="0" y="0"/>
                </a:moveTo>
                <a:lnTo>
                  <a:pt x="2987836" y="0"/>
                </a:lnTo>
                <a:lnTo>
                  <a:pt x="2987836" y="2884620"/>
                </a:lnTo>
                <a:lnTo>
                  <a:pt x="0" y="288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21124" y="3828991"/>
            <a:ext cx="11965797" cy="188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98"/>
              </a:lnSpc>
              <a:spcBef>
                <a:spcPct val="0"/>
              </a:spcBef>
            </a:pPr>
            <a:r>
              <a:rPr lang="en-US" b="true" sz="9999" spc="749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DAG4RnxM9Ow</dc:identifier>
  <dcterms:modified xsi:type="dcterms:W3CDTF">2011-08-01T06:04:30Z</dcterms:modified>
  <cp:revision>1</cp:revision>
  <dc:title>Black and Purple Gradient Modern Elegant Technology Keynote Presentation</dc:title>
</cp:coreProperties>
</file>